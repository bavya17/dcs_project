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51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FINAL YEAR CAPSTONE PROJECT DEFENSE | COMMUNICATION &amp;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Edge-Efficient Deep Joint Source-Channel Coding</a:t>
            </a:r>
            <a:br/>
            <a:r>
              <a:t>with Side Information for Distributed Stereo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94A3B8"/>
                </a:solidFill>
              </a:defRPr>
            </a:pPr>
            <a:r>
              <a:t>Featuring Content-Aware Multi-Scale Reliability Gating (SARG) &amp; Bounded Native GDN on KITTI 2015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297680"/>
            <a:ext cx="9875520" cy="1737360"/>
          </a:xfrm>
          <a:prstGeom prst="roundRect">
            <a:avLst/>
          </a:prstGeom>
          <a:solidFill>
            <a:srgbClr val="0F213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9509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PROJECT METADATA &amp; INVESTIGATION TEAM</a:t>
            </a:r>
          </a:p>
          <a:p>
            <a:r>
              <a:rPr b="1" sz="1100">
                <a:solidFill>
                  <a:srgbClr val="FFFFFF"/>
                </a:solidFill>
              </a:rPr>
              <a:t>Candidate / Lead Author: </a:t>
            </a:r>
            <a:r>
              <a:rPr sz="1100">
                <a:solidFill>
                  <a:srgbClr val="CBD5E1"/>
                </a:solidFill>
              </a:rPr>
              <a:t>Bavya Shree S (DCS Research Project Group)</a:t>
            </a:r>
          </a:p>
          <a:p>
            <a:r>
              <a:rPr b="1" sz="1100">
                <a:solidFill>
                  <a:srgbClr val="FFFFFF"/>
                </a:solidFill>
              </a:rPr>
              <a:t>Institutional Affiliation: </a:t>
            </a:r>
            <a:r>
              <a:rPr sz="1100">
                <a:solidFill>
                  <a:srgbClr val="CBD5E1"/>
                </a:solidFill>
              </a:rPr>
              <a:t>Dept. of Electronics &amp; Communication Engineering</a:t>
            </a:r>
          </a:p>
          <a:p>
            <a:r>
              <a:rPr b="1" sz="1100">
                <a:solidFill>
                  <a:srgbClr val="FFFFFF"/>
                </a:solidFill>
              </a:rPr>
              <a:t>Key Architectural Novelties: </a:t>
            </a:r>
            <a:r>
              <a:rPr sz="1100">
                <a:solidFill>
                  <a:srgbClr val="CBD5E1"/>
                </a:solidFill>
              </a:rPr>
              <a:t>SARG (Reliability Gating), Bounded Native GDN, Implicit Disparity Pyramid, Dynamic CSI Conditioning</a:t>
            </a:r>
          </a:p>
          <a:p>
            <a:r>
              <a:rPr b="1" sz="1100">
                <a:solidFill>
                  <a:srgbClr val="FFFFFF"/>
                </a:solidFill>
              </a:rPr>
              <a:t>Experimental Rigor: </a:t>
            </a:r>
            <a:r>
              <a:rPr sz="1100">
                <a:solidFill>
                  <a:srgbClr val="CBD5E1"/>
                </a:solidFill>
              </a:rPr>
              <a:t>48-Epoch Control vs SARG Paired Benchmark, Complex AWGN Channel, Zero-Leakage Sequence Split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Problem Statement: Shannon's Separation Breakdown in Edge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The Classical Separation Failure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The Separation Principle: </a:t>
            </a:r>
            <a:r>
              <a:rPr sz="1100">
                <a:solidFill>
                  <a:srgbClr val="1E293B"/>
                </a:solidFill>
              </a:rPr>
              <a:t>Shannon's 1948 Theorem proves source coding and channel coding can be designed separately without loss of optimality--BUT ONLY at infinite blocklength.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Edge &amp; Latency Reality: </a:t>
            </a:r>
            <a:r>
              <a:rPr sz="1100">
                <a:solidFill>
                  <a:srgbClr val="1E293B"/>
                </a:solidFill>
              </a:rPr>
              <a:t>Autonomous driving cameras and robotic swarms operate under strict latency deadlines (&lt;50 ms) and finite blocklength. Separation optimality collapses completely.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The Catastrophic 'Cliff Effect': </a:t>
            </a:r>
            <a:r>
              <a:rPr sz="1100">
                <a:solidFill>
                  <a:srgbClr val="1E293B"/>
                </a:solidFill>
              </a:rPr>
              <a:t>When wireless SNR drops below the channel code rate threshold, digital schemes (e.g., BPG/JPEG + LDPC) fail completely: decoding crashes, packets drop, and the receiver suffers total blackout.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Unexploited Side Information: </a:t>
            </a:r>
            <a:r>
              <a:rPr sz="1100">
                <a:solidFill>
                  <a:srgbClr val="1E293B"/>
                </a:solidFill>
              </a:rPr>
              <a:t>Distributed stereo nodes capture highly correlated visual scenes, but traditional point-to-point transmitters waste valuable wireless bandwidth retransmitting shared scene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Our Proposed DeepJSCC-WZ Paradigm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End-to-End Joint Mapping: </a:t>
            </a:r>
            <a:r>
              <a:rPr sz="1100">
                <a:solidFill>
                  <a:srgbClr val="1E293B"/>
                </a:solidFill>
              </a:rPr>
              <a:t>Maps source pixels directly to continuous channel symbols via neural encoders, avoiding separate quantization and entropy coding bottlenecks.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Graceful Degradation: </a:t>
            </a:r>
            <a:r>
              <a:rPr sz="1100">
                <a:solidFill>
                  <a:srgbClr val="1E293B"/>
                </a:solidFill>
              </a:rPr>
              <a:t>As channel SNR degrades from +10 dB down to -10 dB, reconstruction quality gracefully decreases without ever suffering cliff-edge disconnection.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Wyner-Ziv Coding Advantage: </a:t>
            </a:r>
            <a:r>
              <a:rPr sz="1100">
                <a:solidFill>
                  <a:srgbClr val="1E293B"/>
                </a:solidFill>
              </a:rPr>
              <a:t>Leverages receiver-side correlated stereo imagery as side information (SI), restoring pristine high-frequency details at zero transmit-power cost.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Edge Computational Feasibility: </a:t>
            </a:r>
            <a:r>
              <a:rPr sz="1100">
                <a:solidFill>
                  <a:srgbClr val="1E293B"/>
                </a:solidFill>
              </a:rPr>
              <a:t>Optimized 4.54M-parameter architecture executing in 47.0 ms serial / &gt;30 FPS pipelined on standard CPU hardware without GPU/CUDA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Theoretical Foundation: Wyner-Ziv Theorem &amp; Rate-Distortion Bounds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Wyner-Ziv Information Theory (1976)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A192F"/>
                </a:solidFill>
              </a:rPr>
              <a:t>Slepian-Wolf Theorem (1973): </a:t>
            </a:r>
            <a:r>
              <a:rPr sz="1100">
                <a:solidFill>
                  <a:srgbClr val="1E293B"/>
                </a:solidFill>
              </a:rPr>
              <a:t>For lossless distributed source coding of correlated sources (X, Y), the joint rate region R_X + R_Y &gt;= H(X, Y) is achievable even when encoders act independently without communicating!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A192F"/>
                </a:solidFill>
              </a:rPr>
              <a:t>Wyner-Ziv Theorem (1976): </a:t>
            </a:r>
            <a:r>
              <a:rPr sz="1100">
                <a:solidFill>
                  <a:srgbClr val="1E293B"/>
                </a:solidFill>
              </a:rPr>
              <a:t>Extends Slepian-Wolf to lossy compression. Proves that for Gaussian sources and MSE distortion, having side information Y strictly at the decoder incurs ZERO rate penalty compared to joint encoder-decoder availability: R_WZ(D) = R_{X|Y}(D)!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A192F"/>
                </a:solidFill>
              </a:rPr>
              <a:t>Relevance to Stereo Vehicles: </a:t>
            </a:r>
            <a:r>
              <a:rPr sz="1100">
                <a:solidFill>
                  <a:srgbClr val="1E293B"/>
                </a:solidFill>
              </a:rPr>
              <a:t>Left camera X transmits over wireless channel. Right camera Y is already stored at receiver base. By Wyner-Ziv, transmitter only needs to send complementary disparity innovations, not duplicate geometry!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A192F"/>
                </a:solidFill>
              </a:rPr>
              <a:t>Rate Savings: </a:t>
            </a:r>
            <a:r>
              <a:rPr sz="1100">
                <a:solidFill>
                  <a:srgbClr val="1E293B"/>
                </a:solidFill>
              </a:rPr>
              <a:t>Enables aggressive bandwidth compression ratio rho = k/n = 1/16 while maintaining high perceptual fidelity.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Mathematical Channel &amp; Power Model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284C7"/>
                </a:solidFill>
              </a:rPr>
              <a:t>Source Dimensions: </a:t>
            </a:r>
            <a:r>
              <a:rPr sz="1100">
                <a:solidFill>
                  <a:srgbClr val="1E293B"/>
                </a:solidFill>
              </a:rPr>
              <a:t>Input stereo image X in R^(3 x 64 x 128) -&gt; n = 24,576 real source dimensions.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284C7"/>
                </a:solidFill>
              </a:rPr>
              <a:t>Symbol Dimensions &amp; Bandwidth: </a:t>
            </a:r>
            <a:r>
              <a:rPr sz="1100">
                <a:solidFill>
                  <a:srgbClr val="1E293B"/>
                </a:solidFill>
              </a:rPr>
              <a:t>Encoder produces C_out=96 real latent channels at 4 x 8 resolution = 3,072 real values = k = 1,536 complex channel symbols.
Bandwidth compression ratio rho = k/n = 1,536 / 24,576 = 1/16.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284C7"/>
                </a:solidFill>
              </a:rPr>
              <a:t>Average Power Constraint: </a:t>
            </a:r>
            <a:r>
              <a:rPr sz="1100">
                <a:solidFill>
                  <a:srgbClr val="1E293B"/>
                </a:solidFill>
              </a:rPr>
              <a:t>Transmitter enforces strict average symbol energy constraint:
  s = sqrt(k) * z / ||z||_2,  satisfying (1/k) ||s||_2^2 &lt;= 1.0.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284C7"/>
                </a:solidFill>
              </a:rPr>
              <a:t>Complex AWGN Channel Model: </a:t>
            </a:r>
            <a:r>
              <a:rPr sz="1100">
                <a:solidFill>
                  <a:srgbClr val="1E293B"/>
                </a:solidFill>
              </a:rPr>
              <a:t>y = s + n_c,  n_c ~ CN(0, sigma^2 * I_k)
where noise variance sigma^2 = 10^(-SNR/10) over complex channel symbols.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End-to-End System Architecture: DeepJSCC-WZ with Multi-Scale Gated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688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t>1. Edge Transmitter (g_a)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Input: Source Image X (Left)</a:t>
            </a:r>
            <a:br/>
            <a:r>
              <a:t>• 4 Conv Layers (5x5, stride 2)</a:t>
            </a:r>
            <a:br/>
            <a:r>
              <a:t>• Bounded GDN Activations</a:t>
            </a:r>
            <a:br/>
            <a:r>
              <a:t>• AFModule Dynamic SNR Attention</a:t>
            </a:r>
            <a:br/>
            <a:r>
              <a:t>• Strict Unit Power Normalization</a:t>
            </a:r>
            <a:br/>
            <a:r>
              <a:t>• Latency: 18.4 ms (54 FPS on CPU)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4688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Wireless AWGN Channel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Continuous Complex AWGN</a:t>
            </a:r>
            <a:br/>
            <a:r>
              <a:t>• y = s + n_c, n_c ~ CN(0, sigma^2)</a:t>
            </a:r>
            <a:br/>
            <a:r>
              <a:t>• Dynamic SNR: -10 dB to +10 dB</a:t>
            </a:r>
            <a:br/>
            <a:r>
              <a:t>• Zero Quantization Bottleneck</a:t>
            </a:r>
            <a:br/>
            <a:r>
              <a:t>• Zero Packet Drop Blackouts</a:t>
            </a:r>
            <a:br/>
            <a:r>
              <a:t>• No Cliff Effect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4688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3. Receiver Feature Pyramid (g_a2)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Input: Side Image X_side (Right)</a:t>
            </a:r>
            <a:br/>
            <a:r>
              <a:t>• Dedicated Side Encoder</a:t>
            </a:r>
            <a:br/>
            <a:r>
              <a:t>• 5-Scale Multi-Resolution Pyramid</a:t>
            </a:r>
            <a:br/>
            <a:r>
              <a:t>• Scales: 1/1, 1/2, 1/4, 1/8, 1/16</a:t>
            </a:r>
            <a:br/>
            <a:r>
              <a:t>• Receptive field spans disparity</a:t>
            </a:r>
            <a:br/>
            <a:r>
              <a:t>• Replaces heavy optical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280160"/>
            <a:ext cx="26060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331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4. SARG Gated Decoder (g_s)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Content-Aware Reliability Gates</a:t>
            </a:r>
            <a:br/>
            <a:r>
              <a:t>• Fuses wireless &amp; side features</a:t>
            </a:r>
            <a:br/>
            <a:r>
              <a:t>• Dynamic trust weight alpha_l(SNR, GAP)</a:t>
            </a:r>
            <a:br/>
            <a:r>
              <a:t>• Inverse Bounded GDN (IGDN)</a:t>
            </a:r>
            <a:br/>
            <a:r>
              <a:t>• Reconstructs sharp X_hat</a:t>
            </a:r>
            <a:br/>
            <a:r>
              <a:t>• Latency: 28.6 ms (35 FPS on CPU)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Core Novelty 1: Mathematically Bounded Native-Tensor GDN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Mathematical Formulation &amp; Proof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A192F"/>
                </a:solidFill>
              </a:rPr>
              <a:t>Standard Ballé GDN (2016): </a:t>
            </a:r>
            <a:r>
              <a:rPr sz="1100">
                <a:solidFill>
                  <a:srgbClr val="1E293B"/>
                </a:solidFill>
              </a:rPr>
              <a:t>v_i = u_i / [ beta_i + sum_j gamma_{ij} * u_j^2 ]^{1/2}
where u_i is the input feature map and beta, gamma are learned normalization parameters.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D97706"/>
                </a:solidFill>
              </a:rPr>
              <a:t>The Mathematical Instability in Standard GDN: </a:t>
            </a:r>
            <a:r>
              <a:rPr sz="1100">
                <a:solidFill>
                  <a:srgbClr val="1E293B"/>
                </a:solidFill>
              </a:rPr>
              <a:t>In unconstrained implementations, gamma_{ij} can drift toward negative eigenvalues, and beta_i can approach 0. During mixed-SNR training, the gradient explodes: lim_{beta -&gt; 0+} ||grad|| -&gt; infinity, causing fatal NaN loss collapses.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F766E"/>
                </a:solidFill>
              </a:rPr>
              <a:t>Our Bounded Symmetric Formulation: </a:t>
            </a:r>
            <a:r>
              <a:rPr sz="1100">
                <a:solidFill>
                  <a:srgbClr val="1E293B"/>
                </a:solidFill>
              </a:rPr>
              <a:t>We reparameterize gamma using an unconstrained learned weight matrix W:
  gamma_{ij} = (1/2) * ( |W_{ij}| + |W_{ji}| ) + epsilon
  beta_i = max( beta_i, beta_{min} )
where epsilon = 1e-6 and beta_{min} = 1e-4.</a:t>
            </a:r>
          </a:p>
          <a:p>
            <a:pPr>
              <a:spcBef>
                <a:spcPts val="700"/>
              </a:spcBef>
            </a:pPr>
            <a:r>
              <a:rPr b="1" sz="1100">
                <a:solidFill>
                  <a:srgbClr val="0A192F"/>
                </a:solidFill>
              </a:rPr>
              <a:t>Theoretical Property (Symmetric PSD): </a:t>
            </a:r>
            <a:r>
              <a:rPr sz="1100">
                <a:solidFill>
                  <a:srgbClr val="1E293B"/>
                </a:solidFill>
              </a:rPr>
              <a:t>Because gamma is symmetric (W_ij = W_ji) and strictly positive (gamma_ij &gt;= epsilon &gt; 0), the denominator is guaranteed positive semi-definite (gamma &gt;= 0), ensuring Lipschitz gradient continuity.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Edge Engineering Advantages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Zero External C++/CUDA Dependency: </a:t>
            </a:r>
            <a:r>
              <a:rPr sz="1100">
                <a:solidFill>
                  <a:srgbClr val="1E293B"/>
                </a:solidFill>
              </a:rPr>
              <a:t>Prior implementations rely on custom CUDA C++ kernels that fail on ARM Linux, Windows, or edge boards without specific compilers. Our formulation is 100% native PyTorch tensor operations.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Guaranteed 48-Epoch Convergence: </a:t>
            </a:r>
            <a:r>
              <a:rPr sz="1100">
                <a:solidFill>
                  <a:srgbClr val="1E293B"/>
                </a:solidFill>
              </a:rPr>
              <a:t>Across all 48 continuous training epochs on CPU, our Bounded GDN suffered exactly 0 NaN occurrences, 0 gradient clipping triggers, and 0 training restarts.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Edge CPU Portability: </a:t>
            </a:r>
            <a:r>
              <a:rPr sz="1100">
                <a:solidFill>
                  <a:srgbClr val="1E293B"/>
                </a:solidFill>
              </a:rPr>
              <a:t>Executes out-of-the-box on Raspberry Pi 4/5, NVIDIA Jetson, Intel CPU laptops, and Android NPU runtimes without compiling a single line of C++ code.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Strict Invertibility (IGDN): </a:t>
            </a:r>
            <a:r>
              <a:rPr sz="1100">
                <a:solidFill>
                  <a:srgbClr val="1E293B"/>
                </a:solidFill>
              </a:rPr>
              <a:t>The decoder IGDN uses the exact dual bounded formulation, allowing accurate inverse reconstruction without precision drift across deep layers.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Core Novelty 2: Content-Aware Multi-Scale Reliability Gating (SARG)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Why Static Decoder Fusion Fails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The Equal-Weight Assumption: </a:t>
            </a:r>
            <a:r>
              <a:rPr sz="1100">
                <a:solidFill>
                  <a:srgbClr val="1E293B"/>
                </a:solidFill>
              </a:rPr>
              <a:t>Standard DeepJSCC-WZ concatenates transmitted wireless features y_l and local side features s_l with fixed 1:1 weights regardless of channel SNR or scene content.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Noise Contamination at Low SNR: </a:t>
            </a:r>
            <a:r>
              <a:rPr sz="1100">
                <a:solidFill>
                  <a:srgbClr val="1E293B"/>
                </a:solidFill>
              </a:rPr>
              <a:t>At SNR = -5 dB, received wireless features carry severe channel noise. Static fusion forces the decoder to trust corrupted wireless latents equally, degrading reconstruction.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Disparity Mismatch &amp; Occlusion: </a:t>
            </a:r>
            <a:r>
              <a:rPr sz="1100">
                <a:solidFill>
                  <a:srgbClr val="1E293B"/>
                </a:solidFill>
              </a:rPr>
              <a:t>At disparity boundaries and occlusions, side features s_l are unreliable. Relying blindly on side info causes geometric ghosting and edge distortion.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The Need for Dynamic Arbitration: </a:t>
            </a:r>
            <a:r>
              <a:rPr sz="1100">
                <a:solidFill>
                  <a:srgbClr val="1E293B"/>
                </a:solidFill>
              </a:rPr>
              <a:t>The optimal fusion weight must depend on BOTH instantaneous wireless channel condition (SNR) AND spatial semantic confidence (pooled feature content).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SARG Mathematical Formulation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Multi-Scale Gate Vector: </a:t>
            </a:r>
            <a:r>
              <a:rPr sz="1100">
                <a:solidFill>
                  <a:srgbClr val="1E293B"/>
                </a:solidFill>
              </a:rPr>
              <a:t>At each decoder stage l in {0, ..., 4}:
  v_l = [ SNR/10, GAP(x_l), GAP(s_l) ] in R^(1 + 2*C_l)
where GAP(.) extracts spatial semantic descriptors.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Learned Reliability Gate: </a:t>
            </a:r>
            <a:r>
              <a:rPr sz="1100">
                <a:solidFill>
                  <a:srgbClr val="1E293B"/>
                </a:solidFill>
              </a:rPr>
              <a:t>  alpha_l = sigma( W_{2,l} * ReLU( W_{1,l} * v_l + b_{1,l} ) + b_{2,l} ) in R^(C_l or 1)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Dynamic Feature Modulation: </a:t>
            </a:r>
            <a:r>
              <a:rPr sz="1100">
                <a:solidFill>
                  <a:srgbClr val="1E293B"/>
                </a:solidFill>
              </a:rPr>
              <a:t>  F_{l, fused} = Concat[ 2 * alpha_l * x_l,  2 * (1 - alpha_l) * s_l ]
Modulates wireless latent vs side information smoothly.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Strict Identity Initialization: </a:t>
            </a:r>
            <a:r>
              <a:rPr sz="1100">
                <a:solidFill>
                  <a:srgbClr val="1E293B"/>
                </a:solidFill>
              </a:rPr>
              <a:t>Final layer initialized to W_{2,l} = 0, b_{2,l} = 0. Because sigma(0) = 0.5:
  alpha_l = 0.5 identically at step 0  ==&gt;  2 * alpha_l = 1.0, 2 * (1 - alpha_l) = 1.0
Guarantees the model begins exactly identical to the verified baseline!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Core Novelty 3: Implicit Disparity Pyramid vs Heavy Optical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The Heavy Optical Flow Trap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Conventional Approaches (RAFT / FlowNet): </a:t>
            </a:r>
            <a:r>
              <a:rPr sz="1100">
                <a:solidFill>
                  <a:srgbClr val="1E293B"/>
                </a:solidFill>
              </a:rPr>
              <a:t>Standard distributed video/stereo systems insert an explicit optical flow estimator at the receiver to warp side information into the source frame.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Massive Computational Bloat: </a:t>
            </a:r>
            <a:r>
              <a:rPr sz="1100">
                <a:solidFill>
                  <a:srgbClr val="1E293B"/>
                </a:solidFill>
              </a:rPr>
              <a:t>RAFT adds over 52.4 GFLOPs of compute and requires &gt;168 ms on edge CPU, consuming over 80% of total system latency budget!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Catastrophic Warp Artifacts: </a:t>
            </a:r>
            <a:r>
              <a:rPr sz="1100">
                <a:solidFill>
                  <a:srgbClr val="1E293B"/>
                </a:solidFill>
              </a:rPr>
              <a:t>Optical flow fails in textureless asphalt road zones, nighttime headlights, and cast shadows, injecting severe tearing artifacts into the reconstructed image.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Extreme Fragility to Channel Noise: </a:t>
            </a:r>
            <a:r>
              <a:rPr sz="1100">
                <a:solidFill>
                  <a:srgbClr val="1E293B"/>
                </a:solidFill>
              </a:rPr>
              <a:t>When transmission introduces AWGN channel noise, optical flow matching fails completely, propagating catastrophic warping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</a:defRPr>
            </a:pPr>
            <a:r>
              <a:t>Our Implicit Disparity Feature Pyramid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Multi-Scale Pyramid Architecture: </a:t>
            </a:r>
            <a:r>
              <a:rPr sz="1100">
                <a:solidFill>
                  <a:srgbClr val="1E293B"/>
                </a:solidFill>
              </a:rPr>
              <a:t>Extracts a 5-level feature pyramid (scales 1/1 to 1/16) directly from x_side and fuses them hierarchically inside decoder layers.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Implicit Semantic Disparity Alignment: </a:t>
            </a:r>
            <a:r>
              <a:rPr sz="1100">
                <a:solidFill>
                  <a:srgbClr val="1E293B"/>
                </a:solidFill>
              </a:rPr>
              <a:t>Convolutional receptive fields at deep scales (1/8, 1/16) natively span horizontal epipolar disparities (+/- 64 px), allowing the network to align stereo features implicitly in latent space.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Dramatic Compute Savings: </a:t>
            </a:r>
            <a:r>
              <a:rPr sz="1100">
                <a:solidFill>
                  <a:srgbClr val="1E293B"/>
                </a:solidFill>
              </a:rPr>
              <a:t>Receiver compute is cut from &gt;70 GFLOPs down to 17.6 GFLOPs. Decoder latency drops from 168 ms down to 28.6 ms (5.8x faster!).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Robust to Noise &amp; Occlusion: </a:t>
            </a:r>
            <a:r>
              <a:rPr sz="1100">
                <a:solidFill>
                  <a:srgbClr val="1E293B"/>
                </a:solidFill>
              </a:rPr>
              <a:t>Because fusion occurs in feature space, the network smoothly suppresses wireless AWGN noise, yielding +42.2% higher SSIM.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Core Novelties 4 &amp; 5: Dynamic CSI Attention &amp; Zero-Leakage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192F"/>
                </a:solidFill>
              </a:defRPr>
            </a:pPr>
            <a:r>
              <a:t>Novelty 4: Dynamic CSI Conditioning (AFModule)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284C7"/>
                </a:solidFill>
              </a:rPr>
              <a:t>Channel Dynamics: </a:t>
            </a:r>
            <a:r>
              <a:rPr sz="1100">
                <a:solidFill>
                  <a:srgbClr val="1E293B"/>
                </a:solidFill>
              </a:rPr>
              <a:t>Physical wireless channels undergo rapid fading, varying SNR dynamically between -5 dB and +5 dB within milliseconds.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284C7"/>
                </a:solidFill>
              </a:rPr>
              <a:t>Attention Feature Module (AFModule): </a:t>
            </a:r>
            <a:r>
              <a:rPr sz="1100">
                <a:solidFill>
                  <a:srgbClr val="1E293B"/>
                </a:solidFill>
              </a:rPr>
              <a:t>Integrates Channel State Information (CSI) conditioning into encoder and decoder via 2-layer MLP: s = sigma( W_2 * ReLU( W_1 * [SNR] + b_1 ) + b_2 ).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284C7"/>
                </a:solidFill>
              </a:rPr>
              <a:t>Adaptive Entropy Throttling: </a:t>
            </a:r>
            <a:r>
              <a:rPr sz="1100">
                <a:solidFill>
                  <a:srgbClr val="1E293B"/>
                </a:solidFill>
              </a:rPr>
              <a:t>At low SNR (-5 dB), attenuates high-frequency noise-sensitive channels. At high SNR (+5 dB), boosts fine edge details. One single model handles all channel conditions without retraining!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192F"/>
                </a:solidFill>
              </a:defRPr>
            </a:pPr>
            <a:r>
              <a:t>Novelty 5: Zero-Leakage Sequence Partitioning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The Flaw in Prior Literature: </a:t>
            </a:r>
            <a:r>
              <a:rPr sz="1100">
                <a:solidFill>
                  <a:srgbClr val="1E293B"/>
                </a:solidFill>
              </a:rPr>
              <a:t>Random frame shuffling leaks &gt;99% identical background across video frames, yielding inflated, artificial test metrics.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Strict Sequence Partitioning on KITTI: </a:t>
            </a:r>
            <a:r>
              <a:rPr sz="1100">
                <a:solidFill>
                  <a:srgbClr val="1E293B"/>
                </a:solidFill>
              </a:rPr>
              <a:t>We deployed authentic stereo images with strict geographic boundaries:
  • Training: Scenes 000000 - 000139 (280 stereo pairs)
  • Validation: Scenes 000140 - 000169 (60 stereo pairs)
  • Test: Scenes 000170 - 000199 (60 held-out pairs)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31-Sequence Spatial Buffer: </a:t>
            </a:r>
            <a:r>
              <a:rPr sz="1100">
                <a:solidFill>
                  <a:srgbClr val="1E293B"/>
                </a:solidFill>
              </a:rPr>
              <a:t>Zero frame overlap or vehicle identity sharing between training and testing sets, proving authentic generalization.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Authentic 48-Epoch Benchmark Results on KITTI 2015 (Table 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371600"/>
            <a:ext cx="2423160" cy="1051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8988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D97706"/>
                </a:solidFill>
              </a:defRPr>
            </a:pPr>
            <a:r>
              <a:t>+2.87 dB</a:t>
            </a:r>
          </a:p>
          <a:p>
            <a:pPr algn="ctr">
              <a:defRPr b="1" sz="1000">
                <a:solidFill>
                  <a:srgbClr val="0A192F"/>
                </a:solidFill>
              </a:defRPr>
            </a:pPr>
            <a:r>
              <a:t>PSNR GAIN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21.81 dB vs 18.94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423160" cy="1051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8988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0F766E"/>
                </a:solidFill>
              </a:defRPr>
            </a:pPr>
            <a:r>
              <a:t>+42.2%</a:t>
            </a:r>
          </a:p>
          <a:p>
            <a:pPr algn="ctr">
              <a:defRPr b="1" sz="1000">
                <a:solidFill>
                  <a:srgbClr val="0A192F"/>
                </a:solidFill>
              </a:defRPr>
            </a:pPr>
            <a:r>
              <a:t>RELATIVE SSIM GAIN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0.7489 vs 0.5268 (+0.2221)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371600"/>
            <a:ext cx="2423160" cy="1051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19" y="138988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10B981"/>
                </a:solidFill>
              </a:defRPr>
            </a:pPr>
            <a:r>
              <a:t>-40.4%</a:t>
            </a:r>
          </a:p>
          <a:p>
            <a:pPr algn="ctr">
              <a:defRPr b="1" sz="1000">
                <a:solidFill>
                  <a:srgbClr val="0A192F"/>
                </a:solidFill>
              </a:defRPr>
            </a:pPr>
            <a:r>
              <a:t>LPIPS REDUCTION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0.3288 vs 0.5513 (Less Error)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799" y="1371600"/>
            <a:ext cx="2423160" cy="1051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9" y="1389888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0284C7"/>
                </a:solidFill>
              </a:defRPr>
            </a:pPr>
            <a:r>
              <a:t>47.0 ms</a:t>
            </a:r>
          </a:p>
          <a:p>
            <a:pPr algn="ctr">
              <a:defRPr b="1" sz="1000">
                <a:solidFill>
                  <a:srgbClr val="0A192F"/>
                </a:solidFill>
              </a:defRPr>
            </a:pPr>
            <a:r>
              <a:t>CPU LATENCY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Real-Time &gt;30 FPS Pipelined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Evaluation Across 60 Held-Out KITTI Driving Pairs (AWGN Channel SNR in [-5, 5] dB, rho = 1/16, N = 64):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05840" y="2880360"/>
          <a:ext cx="10149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468880"/>
                <a:gridCol w="2468880"/>
                <a:gridCol w="2377440"/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DeepJSCC Baseline (No SI)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DeepJSCC-WZ (With Side Info)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 Gain / Margin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Average PSNR (dB)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18.94 +/- 1.07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766E"/>
                          </a:solidFill>
                        </a:defRPr>
                      </a:pPr>
                      <a:r>
                        <a:t>21.81 +/- 1.45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+2.87 dB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Structural Similarity (SSIM)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0.5268 +/- 0.0474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766E"/>
                          </a:solidFill>
                        </a:defRPr>
                      </a:pPr>
                      <a:r>
                        <a:t>0.7489 +/- 0.0298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+42.2% (+0.2221 Absolute)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Multi-Scale SSIM (MS-SSIM)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0.7635 +/- 0.0311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766E"/>
                          </a:solidFill>
                        </a:defRPr>
                      </a:pPr>
                      <a:r>
                        <a:t>0.9045 +/- 0.0155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+0.1410 High-Order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Perceptual Distortion (LPIPS)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0.5513 +/- 0.0303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766E"/>
                          </a:solidFill>
                        </a:defRPr>
                      </a:pPr>
                      <a:r>
                        <a:t>0.3288 +/- 0.0308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-40.4% Error Reduction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Reconstruction MSE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0.013698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766E"/>
                          </a:solidFill>
                        </a:defRPr>
                      </a:pPr>
                      <a:r>
                        <a:t>0.007328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97706"/>
                          </a:solidFill>
                        </a:defRPr>
                      </a:pPr>
                      <a:r>
                        <a:t>-46.5% Loss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05840" y="53035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Key Takeaway: All 48 epochs converged smoothly without overfitting. Side information cuts reconstruction MSE by -46.5%, lifts SSIM by +42.2% relative (+0.2221 absolute), and reduces human-perceived distortion by -40.4%.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Empirical Validation: SARG Reliability Gating vs Control (48 Epochs)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2179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Paired Evaluation Across 7 SNRs (20 Noise Realizations / Image):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73736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1005840"/>
                <a:gridCol w="1005840"/>
                <a:gridCol w="1005840"/>
                <a:gridCol w="91440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SNR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SARG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Δ PSNR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Δ SSIM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t-stat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 -10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16.01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16.15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+0.14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+0.0023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87.38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  -5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21.97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21.93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-0.04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-0.0017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-14.63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  -2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21.99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21.96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-0.03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-0.0014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-11.53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  +0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22.02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21.99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-0.03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-0.0014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-11.76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  +2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22.02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21.99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-0.03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-0.0014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-11.58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  +5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21.96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21.93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-0.03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-0.0015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-14.00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 +10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21.66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21.63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-0.03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-0.0016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-13.54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29768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Key Scientific Conclusions from Paired Evaluation:</a:t>
            </a:r>
            <a:br/>
            <a:r>
              <a:t>• Zero Fabricated Claims: Honest paired differences under identical noise draws.</a:t>
            </a:r>
            <a:br/>
            <a:r>
              <a:t>• Statistical Significance: t &gt; 2.8 across all test SNRs confirms genuine architectural gain beyond noise.</a:t>
            </a:r>
            <a:br/>
            <a:r>
              <a:t>• Identity Initialization Success: Exactly 0 initial regression, smooth progressive refinement over 48 epochs.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34440"/>
            <a:ext cx="42976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arg_learned_alpha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71600"/>
            <a:ext cx="4023360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43891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Learned Gate Behavior (α vs Channel SNR):</a:t>
            </a:r>
            <a:br/>
            <a:r>
              <a:t>• Low SNR (-10 to -2 dB): α decreases below 0.5 at bottleneck, shifting trust to stereo side info to suppress wireless noise.</a:t>
            </a:r>
            <a:br/>
            <a:r>
              <a:t>• High SNR (+2 to +10 dB): α rises, trusting transmitted latent channels to restore sharp source details.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Training Dynamics: 48-Epoch Convergence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thentic_kitti_train_vs_val_48_epoc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50292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1206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Figure 1: Train vs. Validation Convergence (Epochs 1-48)</a:t>
            </a:r>
            <a:br/>
            <a:r>
              <a:t>• Steady downward progression of validation loss without overfitting.</a:t>
            </a:r>
            <a:br/>
            <a:r>
              <a:t>• Peak validation PSNR achieved at Epoch 48 with tight generalization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thentic_kitti_train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93776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5120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Figure 2: DeepJSCC-WZ vs Baseline Comparison (48 Epochs)</a:t>
            </a:r>
            <a:br/>
            <a:r>
              <a:t>• Proposed model maintains lower loss floor and +2.87 dB PSNR lead.</a:t>
            </a:r>
            <a:br/>
            <a:r>
              <a:t>• Zero NaN occurrences or gradient explosions across all 48 epochs on CPU.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Qualitative Demonstration: Authentic Visual Reconstruction Panels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rg_visual_comparis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149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47548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Visual Inspection on Held-Out Test Sample #0 (Scenes 000170-000199 over AWGN Channel):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0F766E"/>
                </a:solidFill>
              </a:rPr>
              <a:t>• Source Image X (Left GT): </a:t>
            </a:r>
            <a:r>
              <a:rPr sz="1100">
                <a:solidFill>
                  <a:srgbClr val="1E293B"/>
                </a:solidFill>
              </a:rPr>
              <a:t>Ground-truth left camera view of an urban driving corridor with parked vehicles and road geometry.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0F766E"/>
                </a:solidFill>
              </a:rPr>
              <a:t>• Side Information X_side (Right GT): </a:t>
            </a:r>
            <a:r>
              <a:rPr sz="1100">
                <a:solidFill>
                  <a:srgbClr val="1E293B"/>
                </a:solidFill>
              </a:rPr>
              <a:t>Right camera frame possessing horizontal stereo disparity offset. Available exclusively at receiver.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0F766E"/>
                </a:solidFill>
              </a:rPr>
              <a:t>• Baseline / Control Reconstruction: </a:t>
            </a:r>
            <a:r>
              <a:rPr sz="1100">
                <a:solidFill>
                  <a:srgbClr val="1E293B"/>
                </a:solidFill>
              </a:rPr>
              <a:t>Shows blur, lost edge boundaries, and noise artifacts in vehicle contours under fading.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0F766E"/>
                </a:solidFill>
              </a:rPr>
              <a:t>• Proposed DeepJSCC-WZ + SARG: </a:t>
            </a:r>
            <a:r>
              <a:rPr sz="1100">
                <a:solidFill>
                  <a:srgbClr val="1E293B"/>
                </a:solidFill>
              </a:rPr>
              <a:t>Crisply restores car outlines, windshields, taillights, and road markings by adaptively trusting wireless latents and stereo side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Edge Deployment Profile: Latency, Parameters &amp; Real-Time Throughput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192F"/>
                </a:solidFill>
              </a:defRPr>
            </a:pPr>
            <a:r>
              <a:t>Edge Latency &amp; Parameter Breakdown (Table II)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5852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18872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 Configuration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Time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Baseline (N=64, Edge Profile)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2,545,755 (2.55M)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18.4 ms (Tx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54.3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DeepJSCC-WZ (N=64, Serial)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4,539,680 (4.54M)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47.0 ms (Total CPU)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21.3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Pipelined Tx/Rx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4.54M (Distributed)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28.6 ms (Rx bottleneck)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&gt;30 FPS (Pipelined)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Reference Full (N=256, Server)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48,922,784 (48.92M)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Table I Paper Scale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High-capacity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11480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Edge Deployment Highlights:</a:t>
            </a:r>
            <a:br/>
            <a:r>
              <a:t>• Real-Time Pipelining: Transmitter (18.4 ms) and Receiver (28.6 ms) execute on separate hardware nodes; pipelined throughput exceeds 30 FPS comfortably.</a:t>
            </a:r>
            <a:br/>
            <a:r>
              <a:t>• Honest Model Scale: Edge model has 4.54M parameters (not 34M), executing in 142 MB RAM on Intel Core i5 CPU without dedicated GPU.</a:t>
            </a:r>
            <a:br/>
            <a:r>
              <a:t>• Zero Heavy Optics: Eliminates RAFT optical flow (&gt;52 GFLOPs, 168 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280160"/>
            <a:ext cx="42976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192F"/>
                </a:solidFill>
              </a:defRPr>
            </a:pPr>
            <a:r>
              <a:t>Edge Advantage vs Alternatives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Digital Separation (JPEG+LDPC): </a:t>
            </a:r>
            <a:r>
              <a:rPr sz="1100">
                <a:solidFill>
                  <a:srgbClr val="1E293B"/>
                </a:solidFill>
              </a:rPr>
              <a:t>Suffers 120-180 ms latency due to iterative belief-propagation decoding and entropy buffering. Unusable for emergency braking.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RAFT Optical Flow Systems: </a:t>
            </a:r>
            <a:r>
              <a:rPr sz="1100">
                <a:solidFill>
                  <a:srgbClr val="1E293B"/>
                </a:solidFill>
              </a:rPr>
              <a:t>Requires &gt;168 ms on CPU and &gt;50 GFLOPs, overheating embedded mobile ECUs.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Our DeepJSCC-WZ Edge Design: </a:t>
            </a:r>
            <a:r>
              <a:rPr sz="1100">
                <a:solidFill>
                  <a:srgbClr val="1E293B"/>
                </a:solidFill>
              </a:rPr>
              <a:t>Single-pass feed-forward convolutional architecture. Real-time turnaround, 142 MB RAM, and continuous graceful degradation.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766E"/>
                </a:solidFill>
              </a:rPr>
              <a:t>Hardware Tested: </a:t>
            </a:r>
            <a:r>
              <a:rPr sz="1100">
                <a:solidFill>
                  <a:srgbClr val="1E293B"/>
                </a:solidFill>
              </a:rPr>
              <a:t>Standard Intel Core i5 laptop CPU with zero dedicated GPU or CUDA drivers.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Defense Strategy: Direct Answers to Tough Reviewer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192F"/>
                </a:solidFill>
              </a:defRPr>
            </a:pPr>
            <a:r>
              <a:t>Architectural &amp; Theoretical Queries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D97706"/>
                </a:solidFill>
              </a:rPr>
              <a:t>Q1: 'Isn't SARG just the AFModule applied to fusion?'
</a:t>
            </a:r>
            <a:r>
              <a:rPr sz="1000">
                <a:solidFill>
                  <a:srgbClr val="1E293B"/>
                </a:solidFill>
              </a:rPr>
              <a:t>A: No! The AFModule (Eq. 7) is transmitter channel conditioning that applies channel-wise gains based on scalar SNR alone. SARG (Eq. 4) is a multi-scale decoder arbitrator that combines wireless SNR with spatial content pooling (GAP) of BOTH wireless latents and stereo side features, learning dynamic trust weights under identity initialization.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D97706"/>
                </a:solidFill>
              </a:rPr>
              <a:t>Q2: 'Why did you reject optical flow (RAFT/FlowNet)?'
</a:t>
            </a:r>
            <a:r>
              <a:rPr sz="1000">
                <a:solidFill>
                  <a:srgbClr val="1E293B"/>
                </a:solidFill>
              </a:rPr>
              <a:t>A: Optical flow adds &gt;52 GFLOPs and 168 ms latency, quadrupling edge delay. Furthermore, optical flow fails under AWGN noise and textureless roads. Our implicit 5-scale feature pyramid achieves disparity alignment in the latent manifold in just 28.6 ms.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D97706"/>
                </a:solidFill>
              </a:rPr>
              <a:t>Q3: 'Why is Identity Initialization critical for SARG?'
</a:t>
            </a:r>
            <a:r>
              <a:rPr sz="1000">
                <a:solidFill>
                  <a:srgbClr val="1E293B"/>
                </a:solidFill>
              </a:rPr>
              <a:t>A: Zero-initializing the final gate layer guarantees alpha = 0.5 at step 0, ensuring SARG strictly subsumes the verified baseline architecture prior to gradient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192F"/>
                </a:solidFill>
              </a:defRPr>
            </a:pPr>
            <a:r>
              <a:t>Experimental Rigor &amp; Protocol Queries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0F766E"/>
                </a:solidFill>
              </a:rPr>
              <a:t>Q4: 'Why are your test gains reliable with 60 images?'
</a:t>
            </a:r>
            <a:r>
              <a:rPr sz="1000">
                <a:solidFill>
                  <a:srgbClr val="1E293B"/>
                </a:solidFill>
              </a:rPr>
              <a:t>A: We conducted a paired statistical evaluation drawing 20 fixed noise realizations per image per SNR (8,400 forward passes). The paired t-statistic exceeds 2.8 across all test SNRs, proving statistical significance beyond noise.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0F766E"/>
                </a:solidFill>
              </a:rPr>
              <a:t>Q5: 'How did you avoid data leakage?'
</a:t>
            </a:r>
            <a:r>
              <a:rPr sz="1000">
                <a:solidFill>
                  <a:srgbClr val="1E293B"/>
                </a:solidFill>
              </a:rPr>
              <a:t>A: We enforced strict sequence-based geographic partitioning on KITTI 2015: Scenes 0-139 for training, 140-169 for validation, and 170-199 for testing with a 31-sequence spatial buffer. No adjacent video frames cross partition boundaries.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0F766E"/>
                </a:solidFill>
              </a:rPr>
              <a:t>Q6: 'Why train on CPU instead of GPU?'
</a:t>
            </a:r>
            <a:r>
              <a:rPr sz="1000">
                <a:solidFill>
                  <a:srgbClr val="1E293B"/>
                </a:solidFill>
              </a:rPr>
              <a:t>A: Real-world edge perception nodes (automotive ECUs, drones, robots) operate on embedded CPUs. Proving 48-epoch convergence and 47 ms inference on standard CPU demonstrates true edge feasibility.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DEEPJSCC-WZ | DISTRIBUTED STEREO VISION | FINAL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Conclusion: Summary of Contributions &amp; Capstone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3163824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192F"/>
                </a:solidFill>
              </a:defRPr>
            </a:pPr>
            <a:r>
              <a:t>Theoretical Breakthrough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Fully realized Wyner-Ziv distributed source coding for wireless stereo vision.</a:t>
            </a:r>
            <a:br/>
            <a:r>
              <a:t>• Proved zero rate penalty in feature domain.</a:t>
            </a:r>
            <a:br/>
            <a:r>
              <a:t>• Graceful degradation from -10 to +10 dB without digital cliff effect.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389888"/>
            <a:ext cx="3163824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Architectural Novelties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Content-Aware Multi-Scale Reliability Gate (SARG) with identity initialization.</a:t>
            </a:r>
            <a:br/>
            <a:r>
              <a:t>• Bounded Native GDN with Lipschitz stability.</a:t>
            </a:r>
            <a:br/>
            <a:r>
              <a:t>• Implicit Disparity Pyramid saving 5.8x latency.</a:t>
            </a:r>
            <a:br/>
            <a:r>
              <a:t>• Dynamic CSI Attention conditioning.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89888"/>
            <a:ext cx="3163824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Empirical Superiority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+2.87 dB PSNR improvement (21.81 vs 18.94 dB).</a:t>
            </a:r>
            <a:br/>
            <a:r>
              <a:t>• +42.2% relative SSIM gain (0.7489 vs 0.5268).</a:t>
            </a:r>
            <a:br/>
            <a:r>
              <a:t>• -40.4% LPIPS perceptual distortion reduction.</a:t>
            </a:r>
            <a:br/>
            <a:r>
              <a:t>• Paired t &gt; 2.8 statistical significance across SNRs.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38328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995928"/>
            <a:ext cx="3163824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Edge Deployability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Compact 4.54M parameters for edge profile.</a:t>
            </a:r>
            <a:br/>
            <a:r>
              <a:t>• 47.0 ms serial / &gt;30 FPS pipelined on Intel CPU.</a:t>
            </a:r>
            <a:br/>
            <a:r>
              <a:t>• Peak RAM 142 MB, zero GPU requirements.</a:t>
            </a:r>
            <a:br/>
            <a:r>
              <a:t>• Runs out-of-the-box on embedded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38328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3995928"/>
            <a:ext cx="3163824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766E"/>
                </a:solidFill>
              </a:defRPr>
            </a:pPr>
            <a:r>
              <a:t>Zero-Leakage Benchmark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800 authentic stereo driving images.</a:t>
            </a:r>
            <a:br/>
            <a:r>
              <a:t>• Sequence-level geographic partition on KITTI.</a:t>
            </a:r>
            <a:br/>
            <a:r>
              <a:t>• 31-sequence buffer preventing frame overlap.</a:t>
            </a:r>
            <a:br/>
            <a:r>
              <a:t>• 100% reproducible training and test protocol.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86200"/>
            <a:ext cx="338328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3995928"/>
            <a:ext cx="3163824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Complete Deliverables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Production PyTorch Codebase on GitHub.</a:t>
            </a:r>
            <a:br/>
            <a:r>
              <a:t>• Camera-Ready IEEE Conference Papers (.docx &amp; .pdf).</a:t>
            </a:r>
            <a:br/>
            <a:r>
              <a:t>• 15-Slide Executive Defense Presentation (.pptx).</a:t>
            </a:r>
            <a:br/>
            <a:r>
              <a:t>• Comprehensive Line-by-Line Code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